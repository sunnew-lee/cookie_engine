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4"/>
    <p:sldMasterId id="2147483689" r:id="rId5"/>
  </p:sldMasterIdLst>
  <p:notesMasterIdLst>
    <p:notesMasterId r:id="rId17"/>
  </p:notesMasterIdLst>
  <p:sldIdLst>
    <p:sldId id="256" r:id="rId6"/>
    <p:sldId id="257" r:id="rId7"/>
    <p:sldId id="272" r:id="rId8"/>
    <p:sldId id="283" r:id="rId9"/>
    <p:sldId id="290" r:id="rId10"/>
    <p:sldId id="289" r:id="rId11"/>
    <p:sldId id="287" r:id="rId12"/>
    <p:sldId id="288" r:id="rId13"/>
    <p:sldId id="261" r:id="rId14"/>
    <p:sldId id="265" r:id="rId15"/>
    <p:sldId id="271" r:id="rId16"/>
  </p:sldIdLst>
  <p:sldSz cx="9144000" cy="5143500" type="screen16x9"/>
  <p:notesSz cx="6858000" cy="9144000"/>
  <p:embeddedFontLst>
    <p:embeddedFont>
      <p:font typeface="Noto Emoji" panose="020B0600000101010101" charset="0"/>
      <p:regular r:id="rId18"/>
      <p:bold r:id="rId19"/>
    </p:embeddedFont>
    <p:embeddedFont>
      <p:font typeface="Noto Sans KR" panose="020B0200000000000000" pitchFamily="50" charset="-127"/>
      <p:regular r:id="rId20"/>
      <p:bold r:id="rId21"/>
    </p:embeddedFont>
    <p:embeddedFont>
      <p:font typeface="Noto Sans KR DemiLight" panose="020B0200000000000000" pitchFamily="50" charset="-127"/>
      <p:regular r:id="rId22"/>
    </p:embeddedFont>
    <p:embeddedFont>
      <p:font typeface="Rubik" panose="020B0600000101010101" charset="-79"/>
      <p:regular r:id="rId23"/>
      <p:bold r:id="rId24"/>
      <p:italic r:id="rId25"/>
      <p:boldItalic r:id="rId26"/>
    </p:embeddedFont>
    <p:embeddedFont>
      <p:font typeface="Rubik SemiBold" panose="020B0600000101010101" charset="-79"/>
      <p:regular r:id="rId27"/>
      <p:bold r:id="rId28"/>
      <p:italic r:id="rId29"/>
      <p:boldItalic r:id="rId30"/>
    </p:embeddedFont>
    <p:embeddedFont>
      <p:font typeface="Young Serif" panose="020B0600000101010101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86834" autoAdjust="0"/>
  </p:normalViewPr>
  <p:slideViewPr>
    <p:cSldViewPr snapToGrid="0">
      <p:cViewPr varScale="1">
        <p:scale>
          <a:sx n="45" d="100"/>
          <a:sy n="45" d="100"/>
        </p:scale>
        <p:origin x="1104" y="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5dc6998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5dc6998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안녕하세요</a:t>
            </a:r>
            <a:r>
              <a:rPr lang="en-US" altLang="ko-KR" dirty="0"/>
              <a:t>~ </a:t>
            </a:r>
            <a:r>
              <a:rPr lang="ko-KR" altLang="en-US" dirty="0"/>
              <a:t>이번 발표 순서인 이선우입니다</a:t>
            </a:r>
            <a:r>
              <a:rPr lang="en-US" altLang="ko-KR" dirty="0"/>
              <a:t>~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37218bf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737218bf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프로젝트</a:t>
            </a:r>
            <a:r>
              <a:rPr lang="en-US" altLang="ko-KR" dirty="0"/>
              <a:t>1 </a:t>
            </a:r>
            <a:r>
              <a:rPr lang="ko-KR" altLang="en-US" dirty="0"/>
              <a:t>할때 그래픽스 엔진도 </a:t>
            </a:r>
            <a:r>
              <a:rPr lang="en-US" altLang="ko-KR" dirty="0"/>
              <a:t>DLL </a:t>
            </a:r>
            <a:r>
              <a:rPr lang="ko-KR" altLang="en-US" dirty="0"/>
              <a:t>형식으로 구조 짜보고싶다</a:t>
            </a:r>
            <a:r>
              <a:rPr lang="en-US" altLang="ko-KR" dirty="0"/>
              <a:t> </a:t>
            </a:r>
            <a:r>
              <a:rPr lang="ko-KR" altLang="en-US" dirty="0"/>
              <a:t>생각함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Octree</a:t>
            </a:r>
            <a:r>
              <a:rPr lang="ko-KR" altLang="en-US" dirty="0"/>
              <a:t>가 </a:t>
            </a:r>
            <a:r>
              <a:rPr lang="en-US" altLang="ko-KR" dirty="0"/>
              <a:t>Quadtree</a:t>
            </a:r>
            <a:r>
              <a:rPr lang="ko-KR" altLang="en-US" dirty="0"/>
              <a:t>의 연장선</a:t>
            </a:r>
            <a:r>
              <a:rPr lang="en-US" altLang="ko-KR" dirty="0"/>
              <a:t>, </a:t>
            </a:r>
            <a:r>
              <a:rPr lang="ko-KR" altLang="en-US" dirty="0"/>
              <a:t>옛날에 </a:t>
            </a:r>
            <a:r>
              <a:rPr lang="en-US" altLang="ko-KR" dirty="0"/>
              <a:t>Octree </a:t>
            </a:r>
            <a:r>
              <a:rPr lang="ko-KR" altLang="en-US" dirty="0"/>
              <a:t>시각화 구현을 해본 경험이 있음 </a:t>
            </a:r>
            <a:r>
              <a:rPr lang="en-US" altLang="ko-KR" dirty="0"/>
              <a:t>-&gt; </a:t>
            </a:r>
            <a:r>
              <a:rPr lang="ko-KR" altLang="en-US" dirty="0"/>
              <a:t>프로젝트 </a:t>
            </a:r>
            <a:r>
              <a:rPr lang="en-US" altLang="ko-KR" dirty="0"/>
              <a:t>DLL </a:t>
            </a:r>
            <a:r>
              <a:rPr lang="ko-KR" altLang="en-US" dirty="0"/>
              <a:t>구성 연습 </a:t>
            </a:r>
            <a:r>
              <a:rPr lang="en-US" altLang="ko-KR" dirty="0"/>
              <a:t>+ </a:t>
            </a:r>
            <a:r>
              <a:rPr lang="ko-KR" altLang="en-US" dirty="0"/>
              <a:t>그래픽스 복습 </a:t>
            </a:r>
            <a:r>
              <a:rPr lang="en-US" altLang="ko-KR" dirty="0"/>
              <a:t>+ </a:t>
            </a:r>
            <a:r>
              <a:rPr lang="ko-KR" altLang="en-US" dirty="0"/>
              <a:t>옛 코드 정리</a:t>
            </a:r>
            <a:r>
              <a:rPr lang="en-US" altLang="ko-KR" dirty="0"/>
              <a:t>(</a:t>
            </a:r>
            <a:r>
              <a:rPr lang="ko-KR" altLang="en-US" dirty="0"/>
              <a:t>리팩토링</a:t>
            </a:r>
            <a:r>
              <a:rPr lang="en-US" altLang="ko-KR" dirty="0"/>
              <a:t>)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9C582AE9-12AA-212D-824E-E933FF481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5dc69983d_1_0:notes">
            <a:extLst>
              <a:ext uri="{FF2B5EF4-FFF2-40B4-BE49-F238E27FC236}">
                <a16:creationId xmlns:a16="http://schemas.microsoft.com/office/drawing/2014/main" id="{348F2B58-1B26-6B4C-EDFF-063C89EB2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5dc69983d_1_0:notes">
            <a:extLst>
              <a:ext uri="{FF2B5EF4-FFF2-40B4-BE49-F238E27FC236}">
                <a16:creationId xmlns:a16="http://schemas.microsoft.com/office/drawing/2014/main" id="{4D70CF8D-886C-CE97-6D02-6ACA940F35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옥트리는 </a:t>
            </a:r>
            <a:r>
              <a:rPr lang="en-US" altLang="ko-KR" dirty="0"/>
              <a:t>3</a:t>
            </a:r>
            <a:r>
              <a:rPr lang="ko-KR" altLang="en-US" dirty="0"/>
              <a:t>차원</a:t>
            </a:r>
            <a:r>
              <a:rPr lang="en-US" altLang="ko-KR" dirty="0"/>
              <a:t> </a:t>
            </a:r>
            <a:r>
              <a:rPr lang="ko-KR" altLang="en-US" dirty="0"/>
              <a:t>공간을 균등한 </a:t>
            </a:r>
            <a:r>
              <a:rPr lang="en-US" altLang="ko-KR" dirty="0"/>
              <a:t>8</a:t>
            </a:r>
            <a:r>
              <a:rPr lang="ko-KR" altLang="en-US" dirty="0"/>
              <a:t>개의 하위 공간으로 분할하는 데이터 구조임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주로 충돌 감지</a:t>
            </a:r>
            <a:r>
              <a:rPr lang="en-US" altLang="ko-KR" dirty="0"/>
              <a:t>, </a:t>
            </a:r>
            <a:r>
              <a:rPr lang="ko-KR" altLang="en-US" dirty="0"/>
              <a:t>시야 절두체 컬링 </a:t>
            </a:r>
            <a:r>
              <a:rPr lang="en-US" altLang="ko-KR" dirty="0"/>
              <a:t>(Frustum Culling)</a:t>
            </a:r>
            <a:r>
              <a:rPr lang="ko-KR" altLang="en-US" dirty="0"/>
              <a:t>에 사용됨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2487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1E969D8A-4EF5-1440-D592-947E7C02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5dc69983d_1_0:notes">
            <a:extLst>
              <a:ext uri="{FF2B5EF4-FFF2-40B4-BE49-F238E27FC236}">
                <a16:creationId xmlns:a16="http://schemas.microsoft.com/office/drawing/2014/main" id="{B097E2D7-5E2E-39DC-1C8B-DC6835937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5dc69983d_1_0:notes">
            <a:extLst>
              <a:ext uri="{FF2B5EF4-FFF2-40B4-BE49-F238E27FC236}">
                <a16:creationId xmlns:a16="http://schemas.microsoft.com/office/drawing/2014/main" id="{36A4A440-AFC6-0BB4-C078-B0909EBD4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dirty="0"/>
              <a:t>종료 조건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노드에 포함된 기본 요소</a:t>
            </a:r>
            <a:r>
              <a:rPr lang="en-US" altLang="ko-KR" dirty="0"/>
              <a:t>(primitives)</a:t>
            </a:r>
            <a:r>
              <a:rPr lang="ko-KR" altLang="en-US" dirty="0"/>
              <a:t>의 개수</a:t>
            </a:r>
            <a:r>
              <a:rPr lang="en-US" altLang="ko-KR" dirty="0"/>
              <a:t>. -&gt; 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삼각</a:t>
            </a:r>
            <a:r>
              <a:rPr lang="en-US" altLang="ko-KR" dirty="0"/>
              <a:t>, </a:t>
            </a:r>
            <a:r>
              <a:rPr lang="ko-KR" altLang="en-US" dirty="0"/>
              <a:t>사각</a:t>
            </a:r>
            <a:endParaRPr lang="en-US" altLang="ko-KR" dirty="0"/>
          </a:p>
          <a:p>
            <a:r>
              <a:rPr lang="ko-KR" altLang="en-US" dirty="0"/>
              <a:t>트리의 최대 깊이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노드가 차지하는 월드 공간의 크기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9193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7D8907DF-19B8-F934-B9AC-2EBB52D5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5dc69983d_1_0:notes">
            <a:extLst>
              <a:ext uri="{FF2B5EF4-FFF2-40B4-BE49-F238E27FC236}">
                <a16:creationId xmlns:a16="http://schemas.microsoft.com/office/drawing/2014/main" id="{2CF65B69-0C0E-7766-8AB3-8ECA80A5A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5dc69983d_1_0:notes">
            <a:extLst>
              <a:ext uri="{FF2B5EF4-FFF2-40B4-BE49-F238E27FC236}">
                <a16:creationId xmlns:a16="http://schemas.microsoft.com/office/drawing/2014/main" id="{BDE78212-F932-03BB-0CC9-50FCBC020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dirty="0"/>
              <a:t>종료 조건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노드에 포함된 기본 요소</a:t>
            </a:r>
            <a:r>
              <a:rPr lang="en-US" altLang="ko-KR" dirty="0"/>
              <a:t>(primitives)</a:t>
            </a:r>
            <a:r>
              <a:rPr lang="ko-KR" altLang="en-US" dirty="0"/>
              <a:t>의 개수</a:t>
            </a:r>
            <a:r>
              <a:rPr lang="en-US" altLang="ko-KR" dirty="0"/>
              <a:t>. -&gt; </a:t>
            </a:r>
            <a:r>
              <a:rPr lang="ko-KR" altLang="en-US" dirty="0"/>
              <a:t>점</a:t>
            </a:r>
            <a:r>
              <a:rPr lang="en-US" altLang="ko-KR" dirty="0"/>
              <a:t>, </a:t>
            </a:r>
            <a:r>
              <a:rPr lang="ko-KR" altLang="en-US" dirty="0"/>
              <a:t>삼각</a:t>
            </a:r>
            <a:r>
              <a:rPr lang="en-US" altLang="ko-KR" dirty="0"/>
              <a:t>, </a:t>
            </a:r>
            <a:r>
              <a:rPr lang="ko-KR" altLang="en-US" dirty="0"/>
              <a:t>사각</a:t>
            </a:r>
            <a:endParaRPr lang="en-US" altLang="ko-KR" dirty="0"/>
          </a:p>
          <a:p>
            <a:r>
              <a:rPr lang="ko-KR" altLang="en-US" dirty="0"/>
              <a:t>트리의 최대 깊이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노드가 차지하는 월드 공간의 크기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8622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2C072F61-485D-296E-4D3E-4032327F7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5dc69983d_1_0:notes">
            <a:extLst>
              <a:ext uri="{FF2B5EF4-FFF2-40B4-BE49-F238E27FC236}">
                <a16:creationId xmlns:a16="http://schemas.microsoft.com/office/drawing/2014/main" id="{4ED20D4D-F0E8-82F4-CEC2-BA77C6135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5dc69983d_1_0:notes">
            <a:extLst>
              <a:ext uri="{FF2B5EF4-FFF2-40B4-BE49-F238E27FC236}">
                <a16:creationId xmlns:a16="http://schemas.microsoft.com/office/drawing/2014/main" id="{A4688700-5D4F-4909-A38E-3EB5C1582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dirty="0"/>
              <a:t>좌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most 1000 polygons and in the second each leaf has at most 250 polygons.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81561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5F6D3789-E88D-06C1-D7F8-D18AFE307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37218bfeb_0_0:notes">
            <a:extLst>
              <a:ext uri="{FF2B5EF4-FFF2-40B4-BE49-F238E27FC236}">
                <a16:creationId xmlns:a16="http://schemas.microsoft.com/office/drawing/2014/main" id="{D5F7EF38-D5B2-319D-02C3-A446253E44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737218bfeb_0_0:notes">
            <a:extLst>
              <a:ext uri="{FF2B5EF4-FFF2-40B4-BE49-F238E27FC236}">
                <a16:creationId xmlns:a16="http://schemas.microsoft.com/office/drawing/2014/main" id="{92B53357-05DF-05CA-3D4F-495473DDDA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고민이 생기죠 걸리는 삼각형 처리방법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나는 삼각형을 더 만들어서 분배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4659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D4B7C45-4476-5684-BCEF-D1D8DC52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37218bfeb_0_0:notes">
            <a:extLst>
              <a:ext uri="{FF2B5EF4-FFF2-40B4-BE49-F238E27FC236}">
                <a16:creationId xmlns:a16="http://schemas.microsoft.com/office/drawing/2014/main" id="{082D0139-E490-D909-382C-40F4961367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737218bfeb_0_0:notes">
            <a:extLst>
              <a:ext uri="{FF2B5EF4-FFF2-40B4-BE49-F238E27FC236}">
                <a16:creationId xmlns:a16="http://schemas.microsoft.com/office/drawing/2014/main" id="{E27106EE-4E28-2760-5422-37E56D7F8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여기서 </a:t>
            </a:r>
            <a:r>
              <a:rPr lang="en-US" altLang="ko-KR" dirty="0" err="1"/>
              <a:t>IntersectRayPlane</a:t>
            </a:r>
            <a:r>
              <a:rPr lang="en-US" altLang="ko-KR" dirty="0"/>
              <a:t> </a:t>
            </a:r>
            <a:r>
              <a:rPr lang="ko-KR" altLang="en-US" dirty="0"/>
              <a:t>함수에 삼각형 쪼개는 법 두개 또는 세개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 과정을 거치면 스택에 모든 삼각형</a:t>
            </a:r>
            <a:r>
              <a:rPr lang="en-US" altLang="ko-KR" dirty="0"/>
              <a:t>(</a:t>
            </a:r>
            <a:r>
              <a:rPr lang="ko-KR" altLang="en-US" dirty="0"/>
              <a:t>쪼갠거 포함</a:t>
            </a:r>
            <a:r>
              <a:rPr lang="en-US" altLang="ko-KR" dirty="0"/>
              <a:t>) </a:t>
            </a:r>
            <a:r>
              <a:rPr lang="ko-KR" altLang="en-US" dirty="0"/>
              <a:t>들어감 </a:t>
            </a:r>
            <a:r>
              <a:rPr lang="en-US" altLang="ko-KR" dirty="0"/>
              <a:t>-&gt; </a:t>
            </a:r>
            <a:r>
              <a:rPr lang="ko-KR" altLang="en-US" dirty="0"/>
              <a:t>자식에 분배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4643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5dc69983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5dc69983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ko-KR" altLang="en-US" dirty="0"/>
              <a:t>오늘 새벽까지 하다가 마무리한것 </a:t>
            </a:r>
          </a:p>
          <a:p>
            <a:pPr lvl="1"/>
            <a:r>
              <a:rPr lang="ko-KR" altLang="en-US" dirty="0"/>
              <a:t>가시성</a:t>
            </a:r>
          </a:p>
          <a:p>
            <a:pPr lvl="1"/>
            <a:r>
              <a:rPr lang="ko-KR" altLang="en-US" dirty="0"/>
              <a:t>다른 모델 못보여줌</a:t>
            </a:r>
          </a:p>
          <a:p>
            <a:pPr lvl="1"/>
            <a:r>
              <a:rPr lang="en-US" altLang="ko-KR" dirty="0"/>
              <a:t>Octree </a:t>
            </a:r>
            <a:r>
              <a:rPr lang="ko-KR" altLang="en-US" dirty="0"/>
              <a:t>정보 저장 및 불러오기</a:t>
            </a:r>
          </a:p>
          <a:p>
            <a:pPr lvl="1"/>
            <a:r>
              <a:rPr lang="ko-KR" altLang="en-US" dirty="0"/>
              <a:t>마지막에 막 쳐냈음</a:t>
            </a:r>
          </a:p>
          <a:p>
            <a:pPr lvl="1"/>
            <a:r>
              <a:rPr lang="en-US" altLang="ko-KR" dirty="0"/>
              <a:t>depth criteria </a:t>
            </a:r>
            <a:r>
              <a:rPr lang="ko-KR" altLang="en-US" dirty="0"/>
              <a:t>토글까지 못함</a:t>
            </a:r>
          </a:p>
          <a:p>
            <a:r>
              <a:rPr lang="ko-KR" altLang="en-US" dirty="0"/>
              <a:t>설계 </a:t>
            </a:r>
            <a:r>
              <a:rPr lang="en-US" altLang="ko-KR" dirty="0"/>
              <a:t>+ </a:t>
            </a:r>
            <a:r>
              <a:rPr lang="ko-KR" altLang="en-US" dirty="0"/>
              <a:t>구성 </a:t>
            </a:r>
            <a:r>
              <a:rPr lang="en-US" altLang="ko-KR" dirty="0"/>
              <a:t>+ </a:t>
            </a:r>
            <a:r>
              <a:rPr lang="ko-KR" altLang="en-US" dirty="0"/>
              <a:t>분석 오래걸림 </a:t>
            </a:r>
          </a:p>
          <a:p>
            <a:pPr lvl="1"/>
            <a:r>
              <a:rPr lang="ko-KR" altLang="en-US" dirty="0"/>
              <a:t>오래걸린 이유 → 옛 코드 보여주면서 분석 토나옴</a:t>
            </a:r>
            <a:r>
              <a:rPr lang="en-US" altLang="ko-KR" dirty="0"/>
              <a:t>. + </a:t>
            </a:r>
            <a:r>
              <a:rPr lang="en-US" altLang="ko-KR" dirty="0" err="1"/>
              <a:t>dll</a:t>
            </a:r>
            <a:r>
              <a:rPr lang="en-US" altLang="ko-KR" dirty="0"/>
              <a:t> </a:t>
            </a:r>
            <a:r>
              <a:rPr lang="ko-KR" altLang="en-US" dirty="0"/>
              <a:t>좀 이쁘게 정리하려고 → 적당히 타협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5dc69983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5dc69983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직접 게임플레이는 넘어가도록 하겠습니다</a:t>
            </a:r>
            <a:r>
              <a:rPr lang="en-US" altLang="ko-KR" dirty="0"/>
              <a:t>~ </a:t>
            </a:r>
            <a:r>
              <a:rPr lang="ko-KR" altLang="en-US" dirty="0"/>
              <a:t>필요하신분은 개인적으로 빌드 보내드릴게요</a:t>
            </a:r>
            <a:r>
              <a:rPr lang="en-US" altLang="ko-KR" dirty="0"/>
              <a:t>~ </a:t>
            </a:r>
            <a:r>
              <a:rPr lang="ko-KR" altLang="en-US" dirty="0"/>
              <a:t>감사합니다</a:t>
            </a:r>
            <a:r>
              <a:rPr lang="en-US" altLang="ko-KR" dirty="0"/>
              <a:t>!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53B2BC2B-907F-01EE-003C-CA5B8B3C2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5dc69983d_0_49:notes">
            <a:extLst>
              <a:ext uri="{FF2B5EF4-FFF2-40B4-BE49-F238E27FC236}">
                <a16:creationId xmlns:a16="http://schemas.microsoft.com/office/drawing/2014/main" id="{B6DC2E4B-1992-AE94-869B-A2D4C03FA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5dc69983d_0_49:notes">
            <a:extLst>
              <a:ext uri="{FF2B5EF4-FFF2-40B4-BE49-F238E27FC236}">
                <a16:creationId xmlns:a16="http://schemas.microsoft.com/office/drawing/2014/main" id="{040253F2-AEC9-DDC2-B175-320FBFA1A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694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1</a:t>
            </a:r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bg>
      <p:bgPr>
        <a:solidFill>
          <a:schemeClr val="dk2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20"/>
          <p:cNvSpPr txBox="1"/>
          <p:nvPr/>
        </p:nvSpPr>
        <p:spPr>
          <a:xfrm>
            <a:off x="7493400" y="4875225"/>
            <a:ext cx="16506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24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4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5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7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5" name="Google Shape;145;p2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8" name="Google Shape;148;p3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3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3" name="Google Shape;15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3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 type="tx">
  <p:cSld name="TITLE_AND_BODY"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33"/>
          <p:cNvSpPr>
            <a:spLocks noGrp="1"/>
          </p:cNvSpPr>
          <p:nvPr>
            <p:ph type="pic" idx="2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3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7" name="Google Shape;177;p33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1" name="Google Shape;181;p34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3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3" name="Google Shape;183;p34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4" name="Google Shape;184;p34"/>
          <p:cNvSpPr txBox="1">
            <a:spLocks noGrp="1"/>
          </p:cNvSpPr>
          <p:nvPr>
            <p:ph type="body" idx="1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2pPr>
            <a:lvl3pPr marL="1371600" lvl="2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3pPr>
            <a:lvl4pPr marL="1828800" lvl="3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4pPr>
            <a:lvl5pPr marL="2286000" lvl="4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34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6" name="Google Shape;186;p34"/>
          <p:cNvSpPr txBox="1">
            <a:spLocks noGrp="1"/>
          </p:cNvSpPr>
          <p:nvPr>
            <p:ph type="body" idx="2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2pPr>
            <a:lvl3pPr marL="1371600" lvl="2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3pPr>
            <a:lvl4pPr marL="1828800" lvl="3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4pPr>
            <a:lvl5pPr marL="2286000" lvl="4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 b="1">
                <a:solidFill>
                  <a:schemeClr val="lt2"/>
                </a:solidFill>
              </a:defRPr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sz="1400" b="1">
                <a:solidFill>
                  <a:schemeClr val="lt2"/>
                </a:solidFill>
              </a:defRPr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sz="14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subTitle" idx="3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34"/>
          <p:cNvSpPr txBox="1"/>
          <p:nvPr/>
        </p:nvSpPr>
        <p:spPr>
          <a:xfrm>
            <a:off x="7493400" y="4875225"/>
            <a:ext cx="16506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and body">
  <p:cSld name="CUSTOM"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1" name="Google Shape;191;p35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35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3" name="Google Shape;193;p35"/>
          <p:cNvSpPr txBox="1">
            <a:spLocks noGrp="1"/>
          </p:cNvSpPr>
          <p:nvPr>
            <p:ph type="subTitle" idx="1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5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5" name="Google Shape;195;p35"/>
          <p:cNvSpPr txBox="1">
            <a:spLocks noGrp="1"/>
          </p:cNvSpPr>
          <p:nvPr>
            <p:ph type="body" idx="2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marL="914400" lvl="1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marL="1371600" lvl="2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marL="1828800" lvl="3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marL="2286000" lvl="4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marL="2743200" lvl="5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marL="3200400" lvl="6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marL="3657600" lvl="7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marL="4114800" lvl="8" indent="-31432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35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5"/>
          <p:cNvSpPr txBox="1"/>
          <p:nvPr/>
        </p:nvSpPr>
        <p:spPr>
          <a:xfrm>
            <a:off x="7493400" y="4875225"/>
            <a:ext cx="16506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hree columns and image 1">
  <p:cSld name="CUSTOM_2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37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1" name="Google Shape;211;p37"/>
          <p:cNvSpPr txBox="1">
            <a:spLocks noGrp="1"/>
          </p:cNvSpPr>
          <p:nvPr>
            <p:ph type="subTitle" idx="1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37"/>
          <p:cNvSpPr>
            <a:spLocks noGrp="1"/>
          </p:cNvSpPr>
          <p:nvPr>
            <p:ph type="pic" idx="2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37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3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15" name="Google Shape;215;p3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6" name="Google Shape;216;p37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7" name="Google Shape;217;p37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hree columns and image 2">
  <p:cSld name="CUSTOM_2_1"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0" name="Google Shape;220;p38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38"/>
          <p:cNvSpPr>
            <a:spLocks noGrp="1"/>
          </p:cNvSpPr>
          <p:nvPr>
            <p:ph type="pic" idx="2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38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3" name="Google Shape;223;p38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5" name="Google Shape;225;p38"/>
          <p:cNvSpPr txBox="1">
            <a:spLocks noGrp="1"/>
          </p:cNvSpPr>
          <p:nvPr>
            <p:ph type="subTitle" idx="1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3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7" name="Google Shape;227;p38"/>
          <p:cNvSpPr txBox="1">
            <a:spLocks noGrp="1"/>
          </p:cNvSpPr>
          <p:nvPr>
            <p:ph type="body" idx="3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38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hree columns and image 3">
  <p:cSld name="CUSTOM_2_1_1"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1" name="Google Shape;231;p39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39"/>
          <p:cNvSpPr>
            <a:spLocks noGrp="1"/>
          </p:cNvSpPr>
          <p:nvPr>
            <p:ph type="pic" idx="2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39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4" name="Google Shape;234;p39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5" name="Google Shape;235;p39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6" name="Google Shape;236;p39"/>
          <p:cNvSpPr txBox="1">
            <a:spLocks noGrp="1"/>
          </p:cNvSpPr>
          <p:nvPr>
            <p:ph type="subTitle" idx="1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39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8" name="Google Shape;238;p39"/>
          <p:cNvSpPr txBox="1">
            <a:spLocks noGrp="1"/>
          </p:cNvSpPr>
          <p:nvPr>
            <p:ph type="body" idx="3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39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hree columns and image 4">
  <p:cSld name="CUSTOM_2_1_1_1">
    <p:bg>
      <p:bgPr>
        <a:solidFill>
          <a:schemeClr val="lt1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40"/>
          <p:cNvSpPr>
            <a:spLocks noGrp="1"/>
          </p:cNvSpPr>
          <p:nvPr>
            <p:ph type="pic" idx="2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40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0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6" name="Google Shape;246;p40"/>
          <p:cNvSpPr txBox="1">
            <a:spLocks noGrp="1"/>
          </p:cNvSpPr>
          <p:nvPr>
            <p:ph type="subTitle" idx="1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7" name="Google Shape;247;p40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8" name="Google Shape;248;p40"/>
          <p:cNvSpPr txBox="1">
            <a:spLocks noGrp="1"/>
          </p:cNvSpPr>
          <p:nvPr>
            <p:ph type="body" idx="3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40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0" name="Google Shape;250;p40"/>
          <p:cNvSpPr txBox="1">
            <a:spLocks noGrp="1"/>
          </p:cNvSpPr>
          <p:nvPr>
            <p:ph type="subTitle" idx="4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40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2" name="Google Shape;252;p40"/>
          <p:cNvSpPr txBox="1">
            <a:spLocks noGrp="1"/>
          </p:cNvSpPr>
          <p:nvPr>
            <p:ph type="body" idx="5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40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4" name="Google Shape;254;p40"/>
          <p:cNvSpPr txBox="1">
            <a:spLocks noGrp="1"/>
          </p:cNvSpPr>
          <p:nvPr>
            <p:ph type="subTitle" idx="6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spcFirstLastPara="1" wrap="square" lIns="171450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40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6" name="Google Shape;256;p40"/>
          <p:cNvSpPr txBox="1">
            <a:spLocks noGrp="1"/>
          </p:cNvSpPr>
          <p:nvPr>
            <p:ph type="body" idx="7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spcFirstLastPara="1" wrap="square" lIns="114300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CUSTOM_3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9" name="Google Shape;259;p41"/>
          <p:cNvSpPr txBox="1">
            <a:spLocks noGrp="1"/>
          </p:cNvSpPr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41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4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/>
        </p:nvSpPr>
        <p:spPr>
          <a:xfrm>
            <a:off x="7493400" y="4875225"/>
            <a:ext cx="1650600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6972300" y="0"/>
            <a:ext cx="2171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포텐업 게임 개발자 양성과정 3기</a:t>
            </a:r>
            <a:endParaRPr sz="1800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1432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llustration-of-the-quadtree-and-octree-structures-that-are-used-to-arrange-the-3D-point_fig3_260844905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Relationship Id="rId4" Type="http://schemas.openxmlformats.org/officeDocument/2006/relationships/hyperlink" Target="https://cs184.eecs.berkeley.edu/sp23/lecture/9-53/intro-to-ray-tracing-and-accel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>
            <a:spLocks noGrp="1"/>
          </p:cNvSpPr>
          <p:nvPr>
            <p:ph type="title"/>
          </p:nvPr>
        </p:nvSpPr>
        <p:spPr>
          <a:xfrm>
            <a:off x="1248900" y="1315950"/>
            <a:ext cx="6646200" cy="15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#2</a:t>
            </a:r>
            <a:endParaRPr dirty="0"/>
          </a:p>
        </p:txBody>
      </p:sp>
      <p:sp>
        <p:nvSpPr>
          <p:cNvPr id="268" name="Google Shape;268;p43"/>
          <p:cNvSpPr txBox="1">
            <a:spLocks noGrp="1"/>
          </p:cNvSpPr>
          <p:nvPr>
            <p:ph type="subTitle" idx="1"/>
          </p:nvPr>
        </p:nvSpPr>
        <p:spPr>
          <a:xfrm>
            <a:off x="2369850" y="2904750"/>
            <a:ext cx="44043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latin typeface="Noto Sans KR" panose="020B0200000000000000" pitchFamily="34" charset="-128"/>
                <a:ea typeface="Noto Sans KR" panose="020B0200000000000000" pitchFamily="34" charset="-128"/>
              </a:rPr>
              <a:t>OpenGL</a:t>
            </a:r>
            <a:r>
              <a:rPr lang="ko-KR" alt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을 이용한 </a:t>
            </a:r>
            <a:r>
              <a:rPr lang="en-US" altLang="ko-KR" dirty="0">
                <a:latin typeface="Noto Sans KR" panose="020B0200000000000000" pitchFamily="34" charset="-128"/>
                <a:ea typeface="Noto Sans KR" panose="020B0200000000000000" pitchFamily="34" charset="-128"/>
              </a:rPr>
              <a:t>Octree </a:t>
            </a:r>
            <a:r>
              <a:rPr lang="ko-KR" alt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시각화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dirty="0"/>
          </a:p>
        </p:txBody>
      </p:sp>
      <p:sp>
        <p:nvSpPr>
          <p:cNvPr id="269" name="Google Shape;269;p43"/>
          <p:cNvSpPr txBox="1"/>
          <p:nvPr/>
        </p:nvSpPr>
        <p:spPr>
          <a:xfrm>
            <a:off x="6472050" y="4417575"/>
            <a:ext cx="2422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rPr>
              <a:t>2025.09.01 </a:t>
            </a:r>
            <a:r>
              <a:rPr lang="en" sz="2000" dirty="0">
                <a:solidFill>
                  <a:schemeClr val="dk1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Young Serif"/>
                <a:sym typeface="Young Serif"/>
              </a:rPr>
              <a:t>이선우</a:t>
            </a:r>
            <a:endParaRPr sz="1350" dirty="0">
              <a:solidFill>
                <a:schemeClr val="dk1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Rubik"/>
              <a:sym typeface="Rubik"/>
            </a:endParaRPr>
          </a:p>
        </p:txBody>
      </p:sp>
      <p:sp>
        <p:nvSpPr>
          <p:cNvPr id="270" name="Google Shape;270;p43"/>
          <p:cNvSpPr txBox="1"/>
          <p:nvPr/>
        </p:nvSpPr>
        <p:spPr>
          <a:xfrm>
            <a:off x="6420250" y="223750"/>
            <a:ext cx="2519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Octree?</a:t>
            </a:r>
            <a:endParaRPr dirty="0"/>
          </a:p>
        </p:txBody>
      </p:sp>
      <p:sp>
        <p:nvSpPr>
          <p:cNvPr id="3" name="Google Shape;292;p45">
            <a:extLst>
              <a:ext uri="{FF2B5EF4-FFF2-40B4-BE49-F238E27FC236}">
                <a16:creationId xmlns:a16="http://schemas.microsoft.com/office/drawing/2014/main" id="{13377A75-CC02-2F62-A340-45CFDF6019C3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06A5B-8242-E858-1F6E-573A0DA8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4" y="1799217"/>
            <a:ext cx="3210373" cy="2343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188F3E-F789-7D59-3459-8DEA9C07B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893" y="1451508"/>
            <a:ext cx="2867425" cy="3038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9B355F44-E7EA-3D20-3963-55FE7BE53E9D}"/>
              </a:ext>
            </a:extLst>
          </p:cNvPr>
          <p:cNvSpPr/>
          <p:nvPr/>
        </p:nvSpPr>
        <p:spPr>
          <a:xfrm>
            <a:off x="4343981" y="2788412"/>
            <a:ext cx="785308" cy="3650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44470BE8-04CB-05CB-427C-10774291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>
            <a:extLst>
              <a:ext uri="{FF2B5EF4-FFF2-40B4-BE49-F238E27FC236}">
                <a16:creationId xmlns:a16="http://schemas.microsoft.com/office/drawing/2014/main" id="{A93ADA8A-3D86-998D-B28E-9C970AFE0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b="1" dirty="0">
                <a:latin typeface="Noto Emoji"/>
                <a:ea typeface="Noto Emoji"/>
                <a:cs typeface="Noto Emoji"/>
                <a:sym typeface="Noto Emoji"/>
              </a:rPr>
              <a:t>💡</a:t>
            </a:r>
            <a:r>
              <a:rPr lang="en-US" dirty="0"/>
              <a:t>Octree</a:t>
            </a:r>
            <a:r>
              <a:rPr lang="en" b="1" dirty="0">
                <a:latin typeface="Noto Emoji"/>
                <a:ea typeface="Noto Emoji"/>
                <a:cs typeface="Noto Emoji"/>
                <a:sym typeface="Noto Emoji"/>
              </a:rPr>
              <a:t>💡</a:t>
            </a:r>
            <a:endParaRPr dirty="0"/>
          </a:p>
        </p:txBody>
      </p:sp>
      <p:sp>
        <p:nvSpPr>
          <p:cNvPr id="292" name="Google Shape;292;p45">
            <a:extLst>
              <a:ext uri="{FF2B5EF4-FFF2-40B4-BE49-F238E27FC236}">
                <a16:creationId xmlns:a16="http://schemas.microsoft.com/office/drawing/2014/main" id="{4CF47F37-278C-96F0-7A5C-C552872ADD86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26" name="Picture 2" descr="Illustration of the quadtree and octree structures that are used to arrange the 3D point clouds.">
            <a:extLst>
              <a:ext uri="{FF2B5EF4-FFF2-40B4-BE49-F238E27FC236}">
                <a16:creationId xmlns:a16="http://schemas.microsoft.com/office/drawing/2014/main" id="{7AB762A1-D600-EA75-62E6-CF601FAC7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650" y="1337184"/>
            <a:ext cx="3324600" cy="342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4543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D2EE2A28-D945-D765-6A61-0F7A6BC2E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>
            <a:extLst>
              <a:ext uri="{FF2B5EF4-FFF2-40B4-BE49-F238E27FC236}">
                <a16:creationId xmlns:a16="http://schemas.microsoft.com/office/drawing/2014/main" id="{A53F81F2-3658-0DCD-1E82-3EBE088446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b="1" dirty="0">
                <a:latin typeface="Noto Emoji"/>
                <a:ea typeface="Noto Emoji"/>
                <a:cs typeface="Noto Emoji"/>
                <a:sym typeface="Noto Emoji"/>
              </a:rPr>
              <a:t>💡</a:t>
            </a:r>
            <a:r>
              <a:rPr lang="en-US" dirty="0"/>
              <a:t>Octree</a:t>
            </a:r>
            <a:r>
              <a:rPr lang="en" b="1" dirty="0">
                <a:latin typeface="Noto Emoji"/>
                <a:ea typeface="Noto Emoji"/>
                <a:cs typeface="Noto Emoji"/>
                <a:sym typeface="Noto Emoji"/>
              </a:rPr>
              <a:t>💡</a:t>
            </a:r>
            <a:endParaRPr dirty="0"/>
          </a:p>
        </p:txBody>
      </p:sp>
      <p:sp>
        <p:nvSpPr>
          <p:cNvPr id="292" name="Google Shape;292;p45">
            <a:extLst>
              <a:ext uri="{FF2B5EF4-FFF2-40B4-BE49-F238E27FC236}">
                <a16:creationId xmlns:a16="http://schemas.microsoft.com/office/drawing/2014/main" id="{21D5949B-D144-A643-DE50-56591A66B016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E2D9F1C-F0DC-11F4-12BB-48DB88D74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274" y="1198802"/>
            <a:ext cx="5099352" cy="382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7527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EDA35366-8ED3-D8C1-5ECF-74CDCFAD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>
            <a:extLst>
              <a:ext uri="{FF2B5EF4-FFF2-40B4-BE49-F238E27FC236}">
                <a16:creationId xmlns:a16="http://schemas.microsoft.com/office/drawing/2014/main" id="{6A17BC73-5AB9-0095-5EA9-FF2B0083D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b="1" dirty="0">
                <a:latin typeface="Noto Emoji"/>
                <a:ea typeface="Noto Emoji"/>
                <a:cs typeface="Noto Emoji"/>
                <a:sym typeface="Noto Emoji"/>
              </a:rPr>
              <a:t>💡</a:t>
            </a:r>
            <a:r>
              <a:rPr lang="en-US" dirty="0"/>
              <a:t>Octree</a:t>
            </a:r>
            <a:r>
              <a:rPr lang="en" b="1" dirty="0">
                <a:latin typeface="Noto Emoji"/>
                <a:ea typeface="Noto Emoji"/>
                <a:cs typeface="Noto Emoji"/>
                <a:sym typeface="Noto Emoji"/>
              </a:rPr>
              <a:t>💡</a:t>
            </a:r>
            <a:endParaRPr dirty="0"/>
          </a:p>
        </p:txBody>
      </p:sp>
      <p:sp>
        <p:nvSpPr>
          <p:cNvPr id="292" name="Google Shape;292;p45">
            <a:extLst>
              <a:ext uri="{FF2B5EF4-FFF2-40B4-BE49-F238E27FC236}">
                <a16:creationId xmlns:a16="http://schemas.microsoft.com/office/drawing/2014/main" id="{3216387C-B3A0-6135-0FA2-A7C3D112A166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DC5187-DD34-E33D-85AB-39BEE84C2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708" y="1694430"/>
            <a:ext cx="6506483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5510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399673EE-CBB3-3C70-696F-F0FD6740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5">
            <a:extLst>
              <a:ext uri="{FF2B5EF4-FFF2-40B4-BE49-F238E27FC236}">
                <a16:creationId xmlns:a16="http://schemas.microsoft.com/office/drawing/2014/main" id="{C229107D-E40E-3013-83ED-8EC8310872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b="1" dirty="0">
                <a:latin typeface="Noto Emoji"/>
                <a:ea typeface="Noto Emoji"/>
                <a:cs typeface="Noto Emoji"/>
                <a:sym typeface="Noto Emoji"/>
              </a:rPr>
              <a:t>💡</a:t>
            </a:r>
            <a:r>
              <a:rPr lang="en-US" dirty="0"/>
              <a:t>Octree</a:t>
            </a:r>
            <a:r>
              <a:rPr lang="en" b="1" dirty="0">
                <a:latin typeface="Noto Emoji"/>
                <a:ea typeface="Noto Emoji"/>
                <a:cs typeface="Noto Emoji"/>
                <a:sym typeface="Noto Emoji"/>
              </a:rPr>
              <a:t>💡</a:t>
            </a:r>
            <a:endParaRPr dirty="0"/>
          </a:p>
        </p:txBody>
      </p:sp>
      <p:sp>
        <p:nvSpPr>
          <p:cNvPr id="292" name="Google Shape;292;p45">
            <a:extLst>
              <a:ext uri="{FF2B5EF4-FFF2-40B4-BE49-F238E27FC236}">
                <a16:creationId xmlns:a16="http://schemas.microsoft.com/office/drawing/2014/main" id="{3BCA2EBE-5DDB-CB7A-A663-98A1E80155B9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AE5F1-293B-6749-5CDB-693044D7D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58" y="1613097"/>
            <a:ext cx="7997483" cy="252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8FE37E36-86B5-0356-9952-FB921AE0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>
            <a:extLst>
              <a:ext uri="{FF2B5EF4-FFF2-40B4-BE49-F238E27FC236}">
                <a16:creationId xmlns:a16="http://schemas.microsoft.com/office/drawing/2014/main" id="{00942AEC-D8EC-AF19-6228-EF5530FFD6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Octree </a:t>
            </a:r>
            <a:r>
              <a:rPr lang="ko-KR" alt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구현</a:t>
            </a:r>
            <a:endParaRPr dirty="0"/>
          </a:p>
        </p:txBody>
      </p:sp>
      <p:sp>
        <p:nvSpPr>
          <p:cNvPr id="3" name="Google Shape;292;p45">
            <a:extLst>
              <a:ext uri="{FF2B5EF4-FFF2-40B4-BE49-F238E27FC236}">
                <a16:creationId xmlns:a16="http://schemas.microsoft.com/office/drawing/2014/main" id="{0DF5373F-EFA4-BF3A-70B4-6B0ACEE04CF3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58007-B6E8-2111-0F3C-AE85C08C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112" y="1222560"/>
            <a:ext cx="5743776" cy="34749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A9D1F4-C46F-B561-E9CC-B06333EF5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81" y="1158480"/>
            <a:ext cx="7087237" cy="36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314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9F9BE415-36E2-81E3-054C-AF55EE9C9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>
            <a:extLst>
              <a:ext uri="{FF2B5EF4-FFF2-40B4-BE49-F238E27FC236}">
                <a16:creationId xmlns:a16="http://schemas.microsoft.com/office/drawing/2014/main" id="{EC235494-CF3E-42FF-54E2-870B96240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Octree </a:t>
            </a:r>
            <a:r>
              <a:rPr lang="ko-KR" alt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구현</a:t>
            </a:r>
            <a:endParaRPr dirty="0"/>
          </a:p>
        </p:txBody>
      </p:sp>
      <p:sp>
        <p:nvSpPr>
          <p:cNvPr id="3" name="Google Shape;292;p45">
            <a:extLst>
              <a:ext uri="{FF2B5EF4-FFF2-40B4-BE49-F238E27FC236}">
                <a16:creationId xmlns:a16="http://schemas.microsoft.com/office/drawing/2014/main" id="{1B137302-16DD-1DEA-04B6-60B4FC0D12EC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5818E-DE73-0D9F-D5AB-688131881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416" y="1490511"/>
            <a:ext cx="6211167" cy="2162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2257C2-603A-F29C-A546-E06EF710D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541" y="950569"/>
            <a:ext cx="5974915" cy="396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722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>
            <a:spLocks noGrp="1"/>
          </p:cNvSpPr>
          <p:nvPr>
            <p:ph type="subTitle" idx="1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아쉬운 점</a:t>
            </a:r>
            <a:endParaRPr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</p:txBody>
      </p:sp>
      <p:sp>
        <p:nvSpPr>
          <p:cNvPr id="311" name="Google Shape;311;p48"/>
          <p:cNvSpPr txBox="1">
            <a:spLocks noGrp="1"/>
          </p:cNvSpPr>
          <p:nvPr>
            <p:ph type="body" idx="2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5775" indent="-342900">
              <a:buFont typeface="+mj-lt"/>
              <a:buAutoNum type="arabicPeriod"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옛 코드 분석에 시간 소모</a:t>
            </a:r>
            <a:b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</a:b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85775" lvl="0" indent="-342900" algn="l" rtl="0">
              <a:spcBef>
                <a:spcPts val="0"/>
              </a:spcBef>
              <a:spcAft>
                <a:spcPts val="0"/>
              </a:spcAft>
              <a:buSzPts val="1350"/>
              <a:buFont typeface="+mj-lt"/>
              <a:buAutoNum type="arabicPeriod"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그래픽스 엔진 설계 욕심</a:t>
            </a:r>
            <a:b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</a:b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85775" lvl="0" indent="-342900" algn="l" rtl="0">
              <a:spcBef>
                <a:spcPts val="0"/>
              </a:spcBef>
              <a:spcAft>
                <a:spcPts val="0"/>
              </a:spcAft>
              <a:buSzPts val="1350"/>
              <a:buFont typeface="+mj-lt"/>
              <a:buAutoNum type="arabicPeriod"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시각화 가시성</a:t>
            </a:r>
            <a:b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</a:b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85775" indent="-342900">
              <a:buFont typeface="+mj-lt"/>
              <a:buAutoNum type="arabicPeriod"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다른 모델 예제 없음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85775" indent="-342900">
              <a:buFont typeface="+mj-lt"/>
              <a:buAutoNum type="arabicPeriod"/>
            </a:pP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85775" indent="-342900">
              <a:buFont typeface="+mj-lt"/>
              <a:buAutoNum type="arabicPeriod"/>
            </a:pP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분할 종료 조건 추가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marL="485775" indent="-342900">
              <a:buFont typeface="+mj-lt"/>
              <a:buAutoNum type="arabicPeriod"/>
            </a:pP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13CE8-DC8F-E5CD-4125-7E2C5E8FA8C8}"/>
              </a:ext>
            </a:extLst>
          </p:cNvPr>
          <p:cNvSpPr txBox="1"/>
          <p:nvPr/>
        </p:nvSpPr>
        <p:spPr>
          <a:xfrm>
            <a:off x="7204364" y="4914900"/>
            <a:ext cx="1939636" cy="228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Google Shape;292;p45">
            <a:extLst>
              <a:ext uri="{FF2B5EF4-FFF2-40B4-BE49-F238E27FC236}">
                <a16:creationId xmlns:a16="http://schemas.microsoft.com/office/drawing/2014/main" id="{A319A6BE-FC88-4DB6-F2F0-302886391025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" name="Google Shape;275;p44">
            <a:extLst>
              <a:ext uri="{FF2B5EF4-FFF2-40B4-BE49-F238E27FC236}">
                <a16:creationId xmlns:a16="http://schemas.microsoft.com/office/drawing/2014/main" id="{C4192A22-3672-F707-0836-47419EEC55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000" y="228600"/>
            <a:ext cx="7837488" cy="8651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2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3F128-B524-2340-2168-12686F4C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256" y="1601284"/>
            <a:ext cx="5512893" cy="332843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2;p45">
            <a:extLst>
              <a:ext uri="{FF2B5EF4-FFF2-40B4-BE49-F238E27FC236}">
                <a16:creationId xmlns:a16="http://schemas.microsoft.com/office/drawing/2014/main" id="{06CD581B-F03F-3785-1199-368D5FFB76C3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" name="Google Shape;275;p44">
            <a:extLst>
              <a:ext uri="{FF2B5EF4-FFF2-40B4-BE49-F238E27FC236}">
                <a16:creationId xmlns:a16="http://schemas.microsoft.com/office/drawing/2014/main" id="{A769266B-28FF-3916-45CC-8E72C3B5D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000" y="228600"/>
            <a:ext cx="7837488" cy="8651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감사합니다</a:t>
            </a:r>
            <a:r>
              <a:rPr lang="en-US" altLang="ko-KR" dirty="0">
                <a:latin typeface="Noto Sans KR" panose="020B0200000000000000" pitchFamily="34" charset="-128"/>
                <a:ea typeface="Noto Sans KR" panose="020B0200000000000000" pitchFamily="34" charset="-128"/>
              </a:rPr>
              <a:t>!</a:t>
            </a:r>
            <a:endParaRPr dirty="0"/>
          </a:p>
        </p:txBody>
      </p:sp>
      <p:pic>
        <p:nvPicPr>
          <p:cNvPr id="3074" name="Picture 2" descr="a cartoon mouse in a tuxedo is standing on a ledge">
            <a:extLst>
              <a:ext uri="{FF2B5EF4-FFF2-40B4-BE49-F238E27FC236}">
                <a16:creationId xmlns:a16="http://schemas.microsoft.com/office/drawing/2014/main" id="{E6B84F8A-C553-B484-4718-9D1DE8FE1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618" y="1276295"/>
            <a:ext cx="4802927" cy="360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>
          <a:extLst>
            <a:ext uri="{FF2B5EF4-FFF2-40B4-BE49-F238E27FC236}">
              <a16:creationId xmlns:a16="http://schemas.microsoft.com/office/drawing/2014/main" id="{CDCAB6E7-58FD-B408-DBD1-B4562845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>
            <a:extLst>
              <a:ext uri="{FF2B5EF4-FFF2-40B4-BE49-F238E27FC236}">
                <a16:creationId xmlns:a16="http://schemas.microsoft.com/office/drawing/2014/main" id="{59FEAA15-E293-1481-8446-3858CAEFD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Noto Sans KR" panose="020B0200000000000000" pitchFamily="34" charset="-128"/>
                <a:ea typeface="Noto Sans KR" panose="020B0200000000000000" pitchFamily="34" charset="-128"/>
              </a:rPr>
              <a:t>출처</a:t>
            </a:r>
            <a:endParaRPr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11" name="Google Shape;311;p48">
            <a:extLst>
              <a:ext uri="{FF2B5EF4-FFF2-40B4-BE49-F238E27FC236}">
                <a16:creationId xmlns:a16="http://schemas.microsoft.com/office/drawing/2014/main" id="{A08728E6-15F3-E4CC-C886-BB1AC187044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lvl="0"/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Quad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vs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</a:t>
            </a:r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Oct</a:t>
            </a:r>
          </a:p>
          <a:p>
            <a:pPr lvl="1"/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  <a:hlinkClick r:id="rId3"/>
              </a:rPr>
              <a:t>https://www.researchgate.net/figure/llustration-of-the-quadtree-and-octree-structures-that-are-used-to-arrange-the-3D-point_fig3_260844905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여러 공간분할 기법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lvl="1"/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  <a:hlinkClick r:id="rId4"/>
              </a:rPr>
              <a:t>https://cs184.eecs.berkeley.edu/sp23/lecture/9-53/intro-to-ray-tracing-and-acceler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r>
              <a:rPr lang="ko-KR" altLang="en-US" dirty="0" err="1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옥트리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 구조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lvl="1"/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https://geidav.wordpress.com/2014/07/18/advanced-octrees-1-preliminaries-insertion-strategies-and-max-tree-depth/</a:t>
            </a:r>
          </a:p>
          <a:p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Octree </a:t>
            </a:r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시각화 예시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lvl="1"/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https://togeskov.net/octbsp.html</a:t>
            </a:r>
          </a:p>
          <a:p>
            <a:r>
              <a:rPr lang="ko-KR" altLang="en-US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제리 감사짤</a:t>
            </a:r>
            <a:endParaRPr lang="en-US" altLang="ko-KR" dirty="0">
              <a:latin typeface="Noto Sans KR DemiLight" panose="020B0200000000000000" pitchFamily="34" charset="-128"/>
              <a:ea typeface="Noto Sans KR DemiLight" panose="020B0200000000000000" pitchFamily="34" charset="-128"/>
            </a:endParaRPr>
          </a:p>
          <a:p>
            <a:pPr lvl="1"/>
            <a:r>
              <a:rPr lang="en-US" altLang="ko-KR" dirty="0">
                <a:latin typeface="Noto Sans KR DemiLight" panose="020B0200000000000000" pitchFamily="34" charset="-128"/>
                <a:ea typeface="Noto Sans KR DemiLight" panose="020B0200000000000000" pitchFamily="34" charset="-128"/>
              </a:rPr>
              <a:t>https://tenor.com/ko/view/%EC%A0%9C%EB%A6%AC%EC%9D%B8%EC%82%AC-%EC%A1%B4%EC%A4%91-%EC%9D%B8%EC%82%AC-%ED%86%B0%EA%B3%BC%EC%A0%9C%EB%A6%AC-%EC%A0%9C%EB%A6%AC-gif-17316579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6977B-E170-1225-3CC3-1CF1EEE9CE13}"/>
              </a:ext>
            </a:extLst>
          </p:cNvPr>
          <p:cNvSpPr txBox="1"/>
          <p:nvPr/>
        </p:nvSpPr>
        <p:spPr>
          <a:xfrm>
            <a:off x="7204364" y="4914900"/>
            <a:ext cx="1939636" cy="228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Google Shape;292;p45">
            <a:extLst>
              <a:ext uri="{FF2B5EF4-FFF2-40B4-BE49-F238E27FC236}">
                <a16:creationId xmlns:a16="http://schemas.microsoft.com/office/drawing/2014/main" id="{40C9438C-7857-1E44-D02E-3E5A4099F5AD}"/>
              </a:ext>
            </a:extLst>
          </p:cNvPr>
          <p:cNvSpPr txBox="1"/>
          <p:nvPr/>
        </p:nvSpPr>
        <p:spPr>
          <a:xfrm>
            <a:off x="6996545" y="4847516"/>
            <a:ext cx="2529755" cy="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포텐업 게임개발자 양성과정 3기</a:t>
            </a:r>
            <a:endParaRPr sz="135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940528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E01E649C2E8F5409BCE74A5C225E86D" ma:contentTypeVersion="1" ma:contentTypeDescription="새 문서를 만듭니다." ma:contentTypeScope="" ma:versionID="83fb8b41c714b1277047cd8b2c0c2c10">
  <xsd:schema xmlns:xsd="http://www.w3.org/2001/XMLSchema" xmlns:xs="http://www.w3.org/2001/XMLSchema" xmlns:p="http://schemas.microsoft.com/office/2006/metadata/properties" xmlns:ns3="82eee98c-5812-4f92-8173-4fe2ce1120d7" targetNamespace="http://schemas.microsoft.com/office/2006/metadata/properties" ma:root="true" ma:fieldsID="40abb057e1b4ea57fe790cb09efe6602" ns3:_="">
    <xsd:import namespace="82eee98c-5812-4f92-8173-4fe2ce1120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ee98c-5812-4f92-8173-4fe2ce1120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44AFE1-1DFA-4390-A88A-747786A8FC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C440F5-1A9B-442E-BEF3-84E85FD4A0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eee98c-5812-4f92-8173-4fe2ce1120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5A30BB-FA02-4C83-A342-E9F986CAD4AE}">
  <ds:schemaRefs>
    <ds:schemaRef ds:uri="http://purl.org/dc/dcmitype/"/>
    <ds:schemaRef ds:uri="82eee98c-5812-4f92-8173-4fe2ce1120d7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502</Words>
  <Application>Microsoft Office PowerPoint</Application>
  <PresentationFormat>화면 슬라이드 쇼(16:9)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Rubik SemiBold</vt:lpstr>
      <vt:lpstr>Young Serif</vt:lpstr>
      <vt:lpstr>Arial</vt:lpstr>
      <vt:lpstr>Noto Sans KR DemiLight</vt:lpstr>
      <vt:lpstr>Rubik</vt:lpstr>
      <vt:lpstr>Noto Sans KR</vt:lpstr>
      <vt:lpstr>Noto Emoji</vt:lpstr>
      <vt:lpstr>Simple Light</vt:lpstr>
      <vt:lpstr>Syllabus / Course Overview #1</vt:lpstr>
      <vt:lpstr>Project #2</vt:lpstr>
      <vt:lpstr>Why Octree?</vt:lpstr>
      <vt:lpstr>💡Octree💡</vt:lpstr>
      <vt:lpstr>💡Octree💡</vt:lpstr>
      <vt:lpstr>💡Octree💡</vt:lpstr>
      <vt:lpstr>💡Octree💡</vt:lpstr>
      <vt:lpstr>Octree 구현</vt:lpstr>
      <vt:lpstr>Octree 구현</vt:lpstr>
      <vt:lpstr>Project 2</vt:lpstr>
      <vt:lpstr>감사합니다!</vt:lpstr>
      <vt:lpstr>출처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이선우</cp:lastModifiedBy>
  <cp:revision>28</cp:revision>
  <dcterms:modified xsi:type="dcterms:W3CDTF">2025-09-01T03:10:47Z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0x0101001E01E649C2E8F5409BCE74A5C225E86D</vt:lpwstr>
  </property>
</Properties>
</file>